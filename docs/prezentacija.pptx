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>
        <p:scale>
          <a:sx n="122" d="100"/>
          <a:sy n="122" d="100"/>
        </p:scale>
        <p:origin x="114" y="2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768825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955280" y="-2103120"/>
            <a:ext cx="6400800" cy="6400800"/>
          </a:xfrm>
          <a:prstGeom prst="ellipse">
            <a:avLst/>
          </a:prstGeom>
          <a:solidFill>
            <a:srgbClr val="0B1D33"/>
          </a:solidFill>
          <a:ln/>
        </p:spPr>
      </p:sp>
      <p:sp>
        <p:nvSpPr>
          <p:cNvPr id="3" name="Shape 1"/>
          <p:cNvSpPr/>
          <p:nvPr/>
        </p:nvSpPr>
        <p:spPr>
          <a:xfrm>
            <a:off x="9875520" y="3931920"/>
            <a:ext cx="4206240" cy="4206240"/>
          </a:xfrm>
          <a:prstGeom prst="ellipse">
            <a:avLst/>
          </a:prstGeom>
          <a:solidFill>
            <a:srgbClr val="1C7293">
              <a:alpha val="2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1417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2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PROJEKAT · RAČUNARSKA INTELIGENCIJA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77240" y="1874520"/>
            <a:ext cx="9601200" cy="1920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Minimum Dominating</a:t>
            </a:r>
            <a:endParaRPr lang="en-US" sz="4800" dirty="0"/>
          </a:p>
          <a:p>
            <a:pPr marL="0" indent="0">
              <a:lnSpc>
                <a:spcPts val="5200"/>
              </a:lnSpc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 Problem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822960" y="370332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Egzaktni i metaheuristički pristupi rešavanju problema minimalnog dominirajućeg skupa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57200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4800600"/>
            <a:ext cx="5486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Viktor Šević
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Mentor:  </a:t>
            </a: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Stefan Kapunac
</a:t>
            </a: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Avgust 2026.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je dominirajući skup?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626364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101600" dist="38100" dir="5400000" algn="bl" rotWithShape="0">
              <a:srgbClr val="9AA7B5">
                <a:alpha val="25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19202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Definicija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2331720"/>
            <a:ext cx="5669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 D ⊆ V je dominirajući ako je svaki čvor grafa G </a:t>
            </a: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 u D, ili sused nekog čvora iz D.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868680" y="3246120"/>
            <a:ext cx="5669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Minimalni dominirajući skup (MDS) </a:t>
            </a: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dominirajući skup najmanje kardinalnosti. Njegova veličina definiše dominacioni broj γ(G) grafa G.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868680" y="4434840"/>
            <a:ext cx="5623560" cy="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68680" y="4617720"/>
            <a:ext cx="5669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NP-težak problem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— za velike instance ne postoji efikasan algoritam koji garantovano nalazi optimum, pa se koriste egzaktni i heuristički pristupi.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7360920" y="1691640"/>
            <a:ext cx="4343400" cy="4160520"/>
          </a:xfrm>
          <a:prstGeom prst="roundRect">
            <a:avLst>
              <a:gd name="adj" fmla="val 2637"/>
            </a:avLst>
          </a:prstGeom>
          <a:solidFill>
            <a:srgbClr val="12294A"/>
          </a:solidFill>
          <a:ln/>
        </p:spPr>
      </p:sp>
      <p:sp>
        <p:nvSpPr>
          <p:cNvPr id="11" name="Shape 9"/>
          <p:cNvSpPr/>
          <p:nvPr/>
        </p:nvSpPr>
        <p:spPr>
          <a:xfrm>
            <a:off x="9674352" y="2359152"/>
            <a:ext cx="0" cy="2606040"/>
          </a:xfrm>
          <a:prstGeom prst="line">
            <a:avLst/>
          </a:prstGeom>
          <a:noFill/>
          <a:ln w="19050">
            <a:solidFill>
              <a:srgbClr val="3E5C7E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9674352" y="2359152"/>
            <a:ext cx="1371600" cy="868680"/>
          </a:xfrm>
          <a:prstGeom prst="line">
            <a:avLst/>
          </a:prstGeom>
          <a:noFill/>
          <a:ln w="19050">
            <a:solidFill>
              <a:srgbClr val="3E5C7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302752" y="3227832"/>
            <a:ext cx="640080" cy="1143000"/>
          </a:xfrm>
          <a:prstGeom prst="line">
            <a:avLst/>
          </a:prstGeom>
          <a:noFill/>
          <a:ln w="19050">
            <a:solidFill>
              <a:srgbClr val="3E5C7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 flipH="1">
            <a:off x="10387584" y="3227832"/>
            <a:ext cx="658368" cy="1142996"/>
          </a:xfrm>
          <a:prstGeom prst="line">
            <a:avLst/>
          </a:prstGeom>
          <a:noFill/>
          <a:ln w="19050">
            <a:solidFill>
              <a:srgbClr val="3E5C7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 flipH="1">
            <a:off x="9747504" y="4370832"/>
            <a:ext cx="658368" cy="594360"/>
          </a:xfrm>
          <a:prstGeom prst="line">
            <a:avLst/>
          </a:prstGeom>
          <a:noFill/>
          <a:ln w="19050">
            <a:solidFill>
              <a:srgbClr val="3E5C7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942832" y="4370832"/>
            <a:ext cx="1463040" cy="0"/>
          </a:xfrm>
          <a:prstGeom prst="line">
            <a:avLst/>
          </a:prstGeom>
          <a:noFill/>
          <a:ln w="19050">
            <a:solidFill>
              <a:srgbClr val="3E5C7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9674352" y="2359152"/>
            <a:ext cx="731520" cy="2011680"/>
          </a:xfrm>
          <a:prstGeom prst="line">
            <a:avLst/>
          </a:prstGeom>
          <a:noFill/>
          <a:ln w="19050">
            <a:solidFill>
              <a:srgbClr val="3E5C7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10881360" y="3063240"/>
            <a:ext cx="329184" cy="329184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2294A"/>
            </a:solidFill>
            <a:prstDash val="solid"/>
          </a:ln>
        </p:spPr>
      </p:sp>
      <p:sp>
        <p:nvSpPr>
          <p:cNvPr id="27" name="Shape 9">
            <a:extLst>
              <a:ext uri="{FF2B5EF4-FFF2-40B4-BE49-F238E27FC236}">
                <a16:creationId xmlns:a16="http://schemas.microsoft.com/office/drawing/2014/main" id="{8852FA67-5CDC-FF1A-CD1E-CCC092E38FB7}"/>
              </a:ext>
            </a:extLst>
          </p:cNvPr>
          <p:cNvSpPr/>
          <p:nvPr/>
        </p:nvSpPr>
        <p:spPr>
          <a:xfrm flipH="1">
            <a:off x="8302750" y="2359152"/>
            <a:ext cx="1371601" cy="886968"/>
          </a:xfrm>
          <a:prstGeom prst="line">
            <a:avLst/>
          </a:prstGeom>
          <a:noFill/>
          <a:ln w="19050">
            <a:solidFill>
              <a:srgbClr val="3E5C7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0241280" y="4206240"/>
            <a:ext cx="329184" cy="329184"/>
          </a:xfrm>
          <a:prstGeom prst="ellipse">
            <a:avLst/>
          </a:prstGeom>
          <a:solidFill>
            <a:srgbClr val="F2A541"/>
          </a:solidFill>
          <a:ln w="25400">
            <a:solidFill>
              <a:srgbClr val="12294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509760" y="4800600"/>
            <a:ext cx="329184" cy="329184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2294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43800" y="5349240"/>
            <a:ext cx="3977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Žuti čvorovi = izabrani dominirajući skup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8138160" y="3063240"/>
            <a:ext cx="329184" cy="329184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2294A"/>
            </a:solidFill>
            <a:prstDash val="solid"/>
          </a:ln>
        </p:spPr>
      </p:sp>
      <p:sp>
        <p:nvSpPr>
          <p:cNvPr id="28" name="Shape 9">
            <a:extLst>
              <a:ext uri="{FF2B5EF4-FFF2-40B4-BE49-F238E27FC236}">
                <a16:creationId xmlns:a16="http://schemas.microsoft.com/office/drawing/2014/main" id="{242C2888-F951-FDB7-860D-5397313D6C3E}"/>
              </a:ext>
            </a:extLst>
          </p:cNvPr>
          <p:cNvSpPr/>
          <p:nvPr/>
        </p:nvSpPr>
        <p:spPr>
          <a:xfrm flipH="1">
            <a:off x="8942827" y="2331720"/>
            <a:ext cx="731521" cy="2039108"/>
          </a:xfrm>
          <a:prstGeom prst="line">
            <a:avLst/>
          </a:prstGeom>
          <a:noFill/>
          <a:ln w="19050">
            <a:solidFill>
              <a:srgbClr val="3E5C7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09760" y="2194560"/>
            <a:ext cx="329184" cy="329184"/>
          </a:xfrm>
          <a:prstGeom prst="ellipse">
            <a:avLst/>
          </a:prstGeom>
          <a:solidFill>
            <a:srgbClr val="F2A541"/>
          </a:solidFill>
          <a:ln w="25400">
            <a:solidFill>
              <a:srgbClr val="12294A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778240" y="4206240"/>
            <a:ext cx="329184" cy="329184"/>
          </a:xfrm>
          <a:prstGeom prst="ellipse">
            <a:avLst/>
          </a:prstGeom>
          <a:solidFill>
            <a:srgbClr val="CADCFC"/>
          </a:solidFill>
          <a:ln w="25400">
            <a:solidFill>
              <a:srgbClr val="12294A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Gde se problem javlja u praksi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3896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453896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📡</a:t>
            </a:r>
            <a:endParaRPr lang="en-US" sz="2240" dirty="0"/>
          </a:p>
        </p:txBody>
      </p:sp>
      <p:sp>
        <p:nvSpPr>
          <p:cNvPr id="7" name="Text 5"/>
          <p:cNvSpPr/>
          <p:nvPr/>
        </p:nvSpPr>
        <p:spPr>
          <a:xfrm>
            <a:off x="713232" y="306324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Komunikacione mreže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49808" y="370332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Postavljanje baznih stanica i pokrivanje čvorova signalom uz minimalan broj repetitora.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3346704" y="182880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251960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4251960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🖧</a:t>
            </a:r>
            <a:endParaRPr lang="en-US" sz="2240" dirty="0"/>
          </a:p>
        </p:txBody>
      </p:sp>
      <p:sp>
        <p:nvSpPr>
          <p:cNvPr id="12" name="Text 10"/>
          <p:cNvSpPr/>
          <p:nvPr/>
        </p:nvSpPr>
        <p:spPr>
          <a:xfrm>
            <a:off x="3511296" y="306324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Računarske / distribuirane mreže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47872" y="370332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Izbor kontrolnih čvorova koji nadgledaju ili rutiraju saobraćaj za ostatak mreže.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6144768" y="182880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050024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050024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</a:t>
            </a:r>
            <a:endParaRPr lang="en-US" sz="2240" dirty="0"/>
          </a:p>
        </p:txBody>
      </p:sp>
      <p:sp>
        <p:nvSpPr>
          <p:cNvPr id="17" name="Text 15"/>
          <p:cNvSpPr/>
          <p:nvPr/>
        </p:nvSpPr>
        <p:spPr>
          <a:xfrm>
            <a:off x="6309360" y="306324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Društvene mreže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45936" y="370332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Identifikacija najmanjeg skupa korisnika preko kojih se informacija širi do svih ostalih.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942832" y="1828800"/>
            <a:ext cx="2542032" cy="356616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9848088" y="214884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1" name="Text 19"/>
          <p:cNvSpPr/>
          <p:nvPr/>
        </p:nvSpPr>
        <p:spPr>
          <a:xfrm>
            <a:off x="9848088" y="214884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🗺️</a:t>
            </a:r>
            <a:endParaRPr lang="en-US" sz="2240" dirty="0"/>
          </a:p>
        </p:txBody>
      </p:sp>
      <p:sp>
        <p:nvSpPr>
          <p:cNvPr id="22" name="Text 20"/>
          <p:cNvSpPr/>
          <p:nvPr/>
        </p:nvSpPr>
        <p:spPr>
          <a:xfrm>
            <a:off x="9107424" y="306324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Problemi pokrivanja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9144000" y="3703320"/>
            <a:ext cx="21396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Opšti problemi pokrivanja velikih mreža malim brojem strateški izabranih tačaka.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UVOD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Osvrt na literaturu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10881360" cy="3246120"/>
          </a:xfrm>
          <a:prstGeom prst="roundRect">
            <a:avLst>
              <a:gd name="adj" fmla="val 3380"/>
            </a:avLst>
          </a:prstGeom>
          <a:solidFill>
            <a:srgbClr val="12294A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874520"/>
            <a:ext cx="1097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7000" b="1" dirty="0">
                <a:solidFill>
                  <a:srgbClr val="1C729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„</a:t>
            </a:r>
            <a:endParaRPr lang="en-US" sz="7000" dirty="0"/>
          </a:p>
        </p:txBody>
      </p:sp>
      <p:sp>
        <p:nvSpPr>
          <p:cNvPr id="6" name="Text 4"/>
          <p:cNvSpPr/>
          <p:nvPr/>
        </p:nvSpPr>
        <p:spPr>
          <a:xfrm>
            <a:off x="1371600" y="2286000"/>
            <a:ext cx="9692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500"/>
              </a:lnSpc>
              <a:buNone/>
            </a:pPr>
            <a:r>
              <a:rPr lang="en-US" sz="17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Hedar i Ismail (2010) </a:t>
            </a: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pokazuju da hibridni pristupi zasnovani na genetskim algoritmima i lokalnoj pretrazi brzo konvergiraju ka optimalnim rešenjima problema minimalnog dominirajućeg skupa.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1371600" y="3794760"/>
            <a:ext cx="9418320" cy="0"/>
          </a:xfrm>
          <a:prstGeom prst="line">
            <a:avLst/>
          </a:prstGeom>
          <a:noFill/>
          <a:ln w="12700">
            <a:solidFill>
              <a:srgbClr val="2E4A6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371600" y="3977640"/>
            <a:ext cx="96926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100"/>
              </a:lnSpc>
              <a:buNone/>
            </a:pPr>
            <a:r>
              <a:rPr lang="en-US" sz="14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Ključan nalaz: </a:t>
            </a:r>
            <a:r>
              <a:rPr lang="en-US" sz="14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specijalizovani mehanizmi popravke i orezivanja (repair i pruning) drastično smanjuju pretraživani prostor i sprečavaju zaglavljivanje u lokalnim optimumima na složenim mrežnim strukturama.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548640" y="534924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Hedar, A.-R. &amp; Ismail, R. (2010) — na osnovu koje je u ovom radu posebna pažnja posvećena poređenju VNS algoritma sa i bez pruning-a.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PREDLOŽENA REŠENJA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Četiri pristupa rešavanju MDS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42032" cy="3520440"/>
          </a:xfrm>
          <a:prstGeom prst="roundRect">
            <a:avLst>
              <a:gd name="adj" fmla="val 3597"/>
            </a:avLst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996696" y="214884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996696" y="2148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EGZAKTNO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453896" y="265176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8" name="Text 6"/>
          <p:cNvSpPr/>
          <p:nvPr/>
        </p:nvSpPr>
        <p:spPr>
          <a:xfrm>
            <a:off x="1453896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🔎</a:t>
            </a:r>
            <a:endParaRPr lang="en-US" sz="2240" dirty="0"/>
          </a:p>
        </p:txBody>
      </p:sp>
      <p:sp>
        <p:nvSpPr>
          <p:cNvPr id="9" name="Text 7"/>
          <p:cNvSpPr/>
          <p:nvPr/>
        </p:nvSpPr>
        <p:spPr>
          <a:xfrm>
            <a:off x="713232" y="356616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Gruba sila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749808" y="420624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Potpuna pretraga svih podskupova — egzaktna, ali eksponencijalna.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346704" y="1874520"/>
            <a:ext cx="2542032" cy="35204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794760" y="214884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EAF1F7"/>
          </a:solidFill>
          <a:ln/>
        </p:spPr>
      </p:sp>
      <p:sp>
        <p:nvSpPr>
          <p:cNvPr id="13" name="Text 11"/>
          <p:cNvSpPr/>
          <p:nvPr/>
        </p:nvSpPr>
        <p:spPr>
          <a:xfrm>
            <a:off x="3794760" y="2148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EGZAKTNO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251960" y="26517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5" name="Text 13"/>
          <p:cNvSpPr/>
          <p:nvPr/>
        </p:nvSpPr>
        <p:spPr>
          <a:xfrm>
            <a:off x="4251960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∑</a:t>
            </a:r>
            <a:endParaRPr lang="en-US" sz="2240" dirty="0"/>
          </a:p>
        </p:txBody>
      </p:sp>
      <p:sp>
        <p:nvSpPr>
          <p:cNvPr id="16" name="Text 14"/>
          <p:cNvSpPr/>
          <p:nvPr/>
        </p:nvSpPr>
        <p:spPr>
          <a:xfrm>
            <a:off x="3511296" y="356616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Celobrojno programiranje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3547872" y="420624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Egzaktna ILP formulacija — brza do srednje velikih instanci.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44768" y="1874520"/>
            <a:ext cx="2542032" cy="3520440"/>
          </a:xfrm>
          <a:prstGeom prst="roundRect">
            <a:avLst>
              <a:gd name="adj" fmla="val 3597"/>
            </a:avLst>
          </a:prstGeom>
          <a:solidFill>
            <a:srgbClr val="12294A"/>
          </a:solidFill>
          <a:ln w="12700">
            <a:solidFill>
              <a:srgbClr val="12294A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592824" y="214884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1C7293"/>
          </a:solidFill>
          <a:ln/>
        </p:spPr>
      </p:sp>
      <p:sp>
        <p:nvSpPr>
          <p:cNvPr id="20" name="Text 18"/>
          <p:cNvSpPr/>
          <p:nvPr/>
        </p:nvSpPr>
        <p:spPr>
          <a:xfrm>
            <a:off x="6592824" y="2148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METAHEURISTIKA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7050024" y="2651760"/>
            <a:ext cx="731520" cy="73152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22" name="Text 20"/>
          <p:cNvSpPr/>
          <p:nvPr/>
        </p:nvSpPr>
        <p:spPr>
          <a:xfrm>
            <a:off x="7050024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🧭</a:t>
            </a:r>
            <a:endParaRPr lang="en-US" sz="2240" dirty="0"/>
          </a:p>
        </p:txBody>
      </p:sp>
      <p:sp>
        <p:nvSpPr>
          <p:cNvPr id="23" name="Text 21"/>
          <p:cNvSpPr/>
          <p:nvPr/>
        </p:nvSpPr>
        <p:spPr>
          <a:xfrm>
            <a:off x="6309360" y="356616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VNS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345936" y="420624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Pretraživanje promenljivih okolina — shaking + lokalna pretraga.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942832" y="1874520"/>
            <a:ext cx="2542032" cy="3520440"/>
          </a:xfrm>
          <a:prstGeom prst="roundRect">
            <a:avLst>
              <a:gd name="adj" fmla="val 359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9390888" y="2148840"/>
            <a:ext cx="1645920" cy="292608"/>
          </a:xfrm>
          <a:prstGeom prst="roundRect">
            <a:avLst>
              <a:gd name="adj" fmla="val 18750"/>
            </a:avLst>
          </a:prstGeom>
          <a:solidFill>
            <a:srgbClr val="EAF1F7"/>
          </a:solidFill>
          <a:ln/>
        </p:spPr>
      </p:sp>
      <p:sp>
        <p:nvSpPr>
          <p:cNvPr id="27" name="Text 25"/>
          <p:cNvSpPr/>
          <p:nvPr/>
        </p:nvSpPr>
        <p:spPr>
          <a:xfrm>
            <a:off x="9390888" y="214884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METAHEURISTIKA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9848088" y="265176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9" name="Text 27"/>
          <p:cNvSpPr/>
          <p:nvPr/>
        </p:nvSpPr>
        <p:spPr>
          <a:xfrm>
            <a:off x="9848088" y="265176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🧬</a:t>
            </a:r>
            <a:endParaRPr lang="en-US" sz="2240" dirty="0"/>
          </a:p>
        </p:txBody>
      </p:sp>
      <p:sp>
        <p:nvSpPr>
          <p:cNvPr id="30" name="Text 28"/>
          <p:cNvSpPr/>
          <p:nvPr/>
        </p:nvSpPr>
        <p:spPr>
          <a:xfrm>
            <a:off x="9107424" y="3566160"/>
            <a:ext cx="221284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Genetski algoritam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144000" y="4206240"/>
            <a:ext cx="21396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500"/>
              </a:lnSpc>
              <a:buNone/>
            </a:pPr>
            <a:r>
              <a:rPr lang="en-US" sz="115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Evolucija populacije rešenja — selekcija, ukrštanje, mutacija.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1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Pretraga grubom silom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5760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200"/>
              </a:lnSpc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Razmatra sve podskupove čvorova po rastućoj kardinalnosti (r = 1, 2, …) i za svaki proverava da li mu zatvorena okolina pokriva ceo graf. </a:t>
            </a:r>
            <a:r>
              <a:rPr lang="en-US" sz="15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Prvi pronađeni dominantni skup je optimalan.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3429000"/>
            <a:ext cx="5760720" cy="1371600"/>
          </a:xfrm>
          <a:prstGeom prst="roundRect">
            <a:avLst>
              <a:gd name="adj" fmla="val 6667"/>
            </a:avLst>
          </a:prstGeom>
          <a:solidFill>
            <a:srgbClr val="12294A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3584448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Vremenska složenost (najgori slučaj)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3840480"/>
            <a:ext cx="5303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O(2^|V| − 1)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548640" y="4983480"/>
            <a:ext cx="5760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Praktičan samo za relativno male grafove — postaje neupotrebljiv već nakon ~60 čvorova.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629400" y="1737360"/>
            <a:ext cx="5029200" cy="4114800"/>
          </a:xfrm>
          <a:prstGeom prst="roundRect">
            <a:avLst>
              <a:gd name="adj" fmla="val 2222"/>
            </a:avLst>
          </a:prstGeom>
          <a:solidFill>
            <a:srgbClr val="0B1D33"/>
          </a:solidFill>
          <a:ln/>
        </p:spPr>
      </p:sp>
      <p:sp>
        <p:nvSpPr>
          <p:cNvPr id="10" name="Text 8"/>
          <p:cNvSpPr/>
          <p:nvPr/>
        </p:nvSpPr>
        <p:spPr>
          <a:xfrm>
            <a:off x="6949440" y="199339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5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PSEUDOKOD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949440" y="2423160"/>
            <a:ext cx="43891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D7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Brute_force(G):</a:t>
            </a:r>
            <a:endParaRPr lang="en-US" sz="14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D7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za r = 1 do |V|:</a:t>
            </a:r>
            <a:endParaRPr lang="en-US" sz="14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D7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za svaki podskup S veličine r:</a:t>
            </a:r>
            <a:endParaRPr lang="en-US" sz="14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D7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ako S dominira sve čvorove:</a:t>
            </a:r>
            <a:endParaRPr lang="en-US" sz="14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D7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vrati S</a:t>
            </a:r>
            <a:endParaRPr lang="en-US" sz="1450" dirty="0"/>
          </a:p>
          <a:p>
            <a:pPr marL="0" indent="0">
              <a:lnSpc>
                <a:spcPts val="2400"/>
              </a:lnSpc>
              <a:buNone/>
            </a:pPr>
            <a:r>
              <a:rPr lang="en-US" sz="1450" dirty="0">
                <a:solidFill>
                  <a:srgbClr val="D7E4F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vrati V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2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Celobrojno programiranje (ILP)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</a:t>
            </a:r>
            <a:r>
              <a:rPr lang="en-US" sz="1500" baseline="-400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</a:t>
            </a: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∈ {0, 1} — binarna promenljiva: 1 ako čvor v pripada dominirajućem skupu, inače 0.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331720"/>
            <a:ext cx="5257800" cy="1737360"/>
          </a:xfrm>
          <a:prstGeom prst="roundRect">
            <a:avLst>
              <a:gd name="adj" fmla="val 5263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22960" y="251460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CILJNA FUNKCIJA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822960" y="2834640"/>
            <a:ext cx="47548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 </a:t>
            </a:r>
            <a:r>
              <a:rPr lang="en-US" sz="2600" b="1" dirty="0">
                <a:solidFill>
                  <a:srgbClr val="12294A"/>
                </a:solidFill>
                <a:latin typeface="Cambria Math" pitchFamily="34" charset="0"/>
                <a:ea typeface="Cambria Math" pitchFamily="34" charset="-122"/>
                <a:cs typeface="Cambria Math" pitchFamily="34" charset="-120"/>
              </a:rPr>
              <a:t>Σ</a:t>
            </a:r>
            <a:r>
              <a:rPr lang="en-US" sz="2600" b="1" baseline="-40000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v∈V </a:t>
            </a:r>
            <a:r>
              <a:rPr lang="en-US" sz="2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2600" b="1" baseline="-40000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5989320" y="2331720"/>
            <a:ext cx="5440680" cy="1737360"/>
          </a:xfrm>
          <a:prstGeom prst="roundRect">
            <a:avLst>
              <a:gd name="adj" fmla="val 5263"/>
            </a:avLst>
          </a:prstGeom>
          <a:solidFill>
            <a:srgbClr val="12294A"/>
          </a:solidFill>
          <a:ln/>
        </p:spPr>
      </p:sp>
      <p:sp>
        <p:nvSpPr>
          <p:cNvPr id="9" name="Text 7"/>
          <p:cNvSpPr/>
          <p:nvPr/>
        </p:nvSpPr>
        <p:spPr>
          <a:xfrm>
            <a:off x="6263640" y="2514600"/>
            <a:ext cx="4937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OGRANIČENJE (POKRIVENOST)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263640" y="2834640"/>
            <a:ext cx="5029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21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</a:t>
            </a: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+ Σ</a:t>
            </a:r>
            <a:r>
              <a:rPr lang="en-US" sz="21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u∈N(v) </a:t>
            </a: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</a:t>
            </a:r>
            <a:r>
              <a:rPr lang="en-US" sz="2100" b="1" baseline="-40000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r>
              <a:rPr lang="en-US" sz="21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≥ 1,  ∀v ∈ V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548640" y="4297680"/>
            <a:ext cx="10881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Svaki čvor v mora biti pokriven: </a:t>
            </a: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ili je sam izabran, ili je izabran bar jedan njegov sused u ∈ N(v).</a:t>
            </a:r>
            <a:endParaRPr lang="en-US" sz="1450" dirty="0"/>
          </a:p>
        </p:txBody>
      </p:sp>
      <p:sp>
        <p:nvSpPr>
          <p:cNvPr id="12" name="Shape 10"/>
          <p:cNvSpPr/>
          <p:nvPr/>
        </p:nvSpPr>
        <p:spPr>
          <a:xfrm>
            <a:off x="548640" y="5074920"/>
            <a:ext cx="10881360" cy="960120"/>
          </a:xfrm>
          <a:prstGeom prst="roundRect">
            <a:avLst>
              <a:gd name="adj" fmla="val 7619"/>
            </a:avLst>
          </a:prstGeom>
          <a:solidFill>
            <a:srgbClr val="EAF1F7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" y="507492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Rezultat:  </a:t>
            </a:r>
            <a:r>
              <a:rPr lang="en-US" sz="13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egzaktna metoda, izuzetno efikasna i brza na malim, srednjim i velikim instancama (do ~210 čvorova), ali gubi primenjivost usled kombinatorne eksplozije na masivnim grafovima.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ZAJEDNIČKI OKVIR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Reprezentacija rešenja i funkcija prilagođenosti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Rešenje se predstavlja kao bit-vektor dužine N = |V|: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9456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12294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19456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 = [x₀, x₁, …, x_N₋₁],   x_i ∈ {0, 1}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548640" y="329184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Funkcija prilagođenosti kombinuje broj izabranih čvorova i penal za nepokrivene čvorove: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48640" y="3703320"/>
            <a:ext cx="10881360" cy="868680"/>
          </a:xfrm>
          <a:prstGeom prst="roundRect">
            <a:avLst>
              <a:gd name="adj" fmla="val 8421"/>
            </a:avLst>
          </a:prstGeom>
          <a:solidFill>
            <a:srgbClr val="EAF1F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3703320"/>
            <a:ext cx="1088136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f(x) = |S|  +  (N − |C|) · (N + 1)</a:t>
            </a:r>
            <a:endParaRPr lang="en-US" sz="2400" dirty="0"/>
          </a:p>
        </p:txBody>
      </p:sp>
      <p:sp>
        <p:nvSpPr>
          <p:cNvPr id="10" name="Shape 8"/>
          <p:cNvSpPr/>
          <p:nvPr/>
        </p:nvSpPr>
        <p:spPr>
          <a:xfrm>
            <a:off x="548640" y="4800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85800" y="4892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|S|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685800" y="52303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ukupan broj izabranih čvorova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337560" y="4800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74720" y="4892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3474720" y="52303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 izabranih čvorova i svih njihovih suseda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4800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63640" y="4892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− |C|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63640" y="52303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 nepokrivenih čvorova u grafu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8915400" y="4800600"/>
            <a:ext cx="260604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052560" y="489204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C729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 + 1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9052560" y="5230368"/>
            <a:ext cx="2331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visoka konstanta koja strogo kažnjava nedopustiva rešenja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3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Pretraživanje promenljivih okolina (VNS)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057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🎲</a:t>
            </a:r>
            <a:endParaRPr lang="en-US" sz="1820" dirty="0"/>
          </a:p>
        </p:txBody>
      </p:sp>
      <p:sp>
        <p:nvSpPr>
          <p:cNvPr id="7" name="Text 5"/>
          <p:cNvSpPr/>
          <p:nvPr/>
        </p:nvSpPr>
        <p:spPr>
          <a:xfrm>
            <a:off x="1508760" y="2057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Shaking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27889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Nasumično potresanje ka k-toj okolini trenutnog rešenja (diverzifikacija).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977640" y="2377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4206240" y="1783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434840" y="2057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443484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🛠️</a:t>
            </a:r>
            <a:endParaRPr lang="en-US" sz="1820" dirty="0"/>
          </a:p>
        </p:txBody>
      </p:sp>
      <p:sp>
        <p:nvSpPr>
          <p:cNvPr id="13" name="Text 11"/>
          <p:cNvSpPr/>
          <p:nvPr/>
        </p:nvSpPr>
        <p:spPr>
          <a:xfrm>
            <a:off x="5166360" y="2057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Repair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434840" y="27889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Popravka: dodaju se čvorovi dok se ne zadovolji uslov dominacije.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635240" y="2377440"/>
            <a:ext cx="228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863840" y="1783080"/>
            <a:ext cx="3429000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92440" y="2057400"/>
            <a:ext cx="594360" cy="59436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8" name="Text 16"/>
          <p:cNvSpPr/>
          <p:nvPr/>
        </p:nvSpPr>
        <p:spPr>
          <a:xfrm>
            <a:off x="8092440" y="2057400"/>
            <a:ext cx="5943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2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✂️</a:t>
            </a:r>
            <a:endParaRPr lang="en-US" sz="1820" dirty="0"/>
          </a:p>
        </p:txBody>
      </p:sp>
      <p:sp>
        <p:nvSpPr>
          <p:cNvPr id="19" name="Text 17"/>
          <p:cNvSpPr/>
          <p:nvPr/>
        </p:nvSpPr>
        <p:spPr>
          <a:xfrm>
            <a:off x="8823960" y="2057400"/>
            <a:ext cx="22860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Pruning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8092440" y="2788920"/>
            <a:ext cx="29718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Orezivanje suvišnih čvorova čijim uklanjanjem skup ostaje dominirajući.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48640" y="388620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Ciklus se ponavlja dok se ne ispuni kriterijum zaustavljanja; ako novo rešenje ne poboljšava trenutno, uvećava se veličina okoline k.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526280"/>
            <a:ext cx="5257800" cy="1600200"/>
          </a:xfrm>
          <a:prstGeom prst="roundRect">
            <a:avLst>
              <a:gd name="adj" fmla="val 5714"/>
            </a:avLst>
          </a:prstGeom>
          <a:solidFill>
            <a:srgbClr val="12294A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4681728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UKUPNA SLOŽENOST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22960" y="4983480"/>
            <a:ext cx="4754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F2A54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 I · k_max · V · (V + E) )</a:t>
            </a:r>
            <a:endParaRPr lang="en-US" sz="2100" dirty="0"/>
          </a:p>
        </p:txBody>
      </p:sp>
      <p:sp>
        <p:nvSpPr>
          <p:cNvPr id="25" name="Text 23"/>
          <p:cNvSpPr/>
          <p:nvPr/>
        </p:nvSpPr>
        <p:spPr>
          <a:xfrm>
            <a:off x="822960" y="5669280"/>
            <a:ext cx="4754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— broj iteracija,  k_max ≤ V — maks. veličina okoline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989320" y="4526280"/>
            <a:ext cx="5440680" cy="1600200"/>
          </a:xfrm>
          <a:prstGeom prst="roundRect">
            <a:avLst>
              <a:gd name="adj" fmla="val 5714"/>
            </a:avLst>
          </a:prstGeom>
          <a:solidFill>
            <a:srgbClr val="EAF1F7"/>
          </a:solidFill>
          <a:ln/>
        </p:spPr>
      </p:sp>
      <p:sp>
        <p:nvSpPr>
          <p:cNvPr id="27" name="Text 25"/>
          <p:cNvSpPr/>
          <p:nvPr/>
        </p:nvSpPr>
        <p:spPr>
          <a:xfrm>
            <a:off x="6263640" y="4526280"/>
            <a:ext cx="4892040" cy="1600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3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Ključna prednost: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faza orezivanja (pruning) direktno smanjuje vrednost funkcije cilja i sprečava zaglavljivanje u lošim lokalnim optimumima na velikim grafovima.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METODA 4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Genetski algoritam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37360"/>
            <a:ext cx="10881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razliku od VNS-a koji unapređuje jedno rešenje, GA evoluira čitavu populaciju kandidat-rešenja kroz generacije.</a:t>
            </a:r>
            <a:endParaRPr lang="en-US" sz="1450" dirty="0"/>
          </a:p>
        </p:txBody>
      </p:sp>
      <p:sp>
        <p:nvSpPr>
          <p:cNvPr id="5" name="Shape 3"/>
          <p:cNvSpPr/>
          <p:nvPr/>
        </p:nvSpPr>
        <p:spPr>
          <a:xfrm>
            <a:off x="548640" y="24231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1920240" y="267919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1920240" y="26791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</a:t>
            </a:r>
            <a:endParaRPr lang="en-US" sz="2100" dirty="0"/>
          </a:p>
        </p:txBody>
      </p:sp>
      <p:sp>
        <p:nvSpPr>
          <p:cNvPr id="8" name="Text 6"/>
          <p:cNvSpPr/>
          <p:nvPr/>
        </p:nvSpPr>
        <p:spPr>
          <a:xfrm>
            <a:off x="731520" y="34747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Turnirska selekcija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777240" y="3886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Iz podskupa od k jedinki bira se roditelj sa najmanjom (najboljom) vrednošću fitness funkcije.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06240" y="24231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12294A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5577840" y="2679192"/>
            <a:ext cx="685800" cy="685800"/>
          </a:xfrm>
          <a:prstGeom prst="ellipse">
            <a:avLst/>
          </a:prstGeom>
          <a:solidFill>
            <a:srgbClr val="F2A541"/>
          </a:solidFill>
          <a:ln/>
        </p:spPr>
      </p:sp>
      <p:sp>
        <p:nvSpPr>
          <p:cNvPr id="12" name="Text 10"/>
          <p:cNvSpPr/>
          <p:nvPr/>
        </p:nvSpPr>
        <p:spPr>
          <a:xfrm>
            <a:off x="5577840" y="26791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🔀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4389120" y="34747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Ukrštanje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4434840" y="3886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 dva roditelja bira se nasumična tačka j i razmenjuje genetski materijal, formirajući dva potomka.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863840" y="2423160"/>
            <a:ext cx="34290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235440" y="2679192"/>
            <a:ext cx="685800" cy="68580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9235440" y="2679192"/>
            <a:ext cx="6858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🔁</a:t>
            </a:r>
            <a:endParaRPr lang="en-US" sz="2100" dirty="0"/>
          </a:p>
        </p:txBody>
      </p:sp>
      <p:sp>
        <p:nvSpPr>
          <p:cNvPr id="18" name="Text 16"/>
          <p:cNvSpPr/>
          <p:nvPr/>
        </p:nvSpPr>
        <p:spPr>
          <a:xfrm>
            <a:off x="8046720" y="3474720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Mutacija</a:t>
            </a:r>
            <a:endParaRPr lang="en-US" sz="1450" dirty="0"/>
          </a:p>
        </p:txBody>
      </p:sp>
      <p:sp>
        <p:nvSpPr>
          <p:cNvPr id="19" name="Text 17"/>
          <p:cNvSpPr/>
          <p:nvPr/>
        </p:nvSpPr>
        <p:spPr>
          <a:xfrm>
            <a:off x="8092440" y="3886200"/>
            <a:ext cx="2971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400"/>
              </a:lnSpc>
              <a:buNone/>
            </a:pPr>
            <a:r>
              <a:rPr lang="en-US" sz="11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 odabranih jedinki nasumično se bira bit i i vrši se njegova inverzija: x_i = 1 − x_i.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48640" y="4800600"/>
            <a:ext cx="10881360" cy="1234440"/>
          </a:xfrm>
          <a:prstGeom prst="roundRect">
            <a:avLst>
              <a:gd name="adj" fmla="val 5926"/>
            </a:avLst>
          </a:prstGeom>
          <a:solidFill>
            <a:srgbClr val="EAF1F7"/>
          </a:solidFill>
          <a:ln/>
        </p:spPr>
      </p:sp>
      <p:sp>
        <p:nvSpPr>
          <p:cNvPr id="21" name="Text 19"/>
          <p:cNvSpPr/>
          <p:nvPr/>
        </p:nvSpPr>
        <p:spPr>
          <a:xfrm>
            <a:off x="822960" y="4800600"/>
            <a:ext cx="1033272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4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Nakon ukrštanja: </a:t>
            </a: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primenjuje se popravka radi dopustivosti, a sa verovatnoćom od 10% i orezivanje radi lokalne optimizacije potomaka.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EKSPERIMENT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primeri i metrike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SKUPOVI GRAFOVA</a:t>
            </a:r>
            <a:endParaRPr lang="en-US" sz="12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577840" cy="2286000"/>
        </p:xfrm>
        <a:graphic>
          <a:graphicData uri="http://schemas.openxmlformats.org/drawingml/2006/table">
            <a:tbl>
              <a:tblPr/>
              <a:tblGrid>
                <a:gridCol w="274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3035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malih grafova (5 čvorova), različitih gustina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srednjih grafova (25 čvorova), različitih gustina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velikih grafova (100 čvorova), različitih gustina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Grafovi od 5–210 čvorova, prosečne gustine 0.2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F2A54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●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25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veliki graf — 1000 čvorova, prosečne gustine 200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0" cap="flat" cmpd="sng" algn="ctr"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METRIKE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48640" y="50292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2294A"/>
          </a:solidFill>
          <a:ln/>
        </p:spPr>
      </p:sp>
      <p:sp>
        <p:nvSpPr>
          <p:cNvPr id="8" name="Text 5"/>
          <p:cNvSpPr/>
          <p:nvPr/>
        </p:nvSpPr>
        <p:spPr>
          <a:xfrm>
            <a:off x="640080" y="50292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Prosečna uspešnost (%)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423160" y="50292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2294A"/>
          </a:solidFill>
          <a:ln/>
        </p:spPr>
      </p:sp>
      <p:sp>
        <p:nvSpPr>
          <p:cNvPr id="10" name="Text 7"/>
          <p:cNvSpPr/>
          <p:nvPr/>
        </p:nvSpPr>
        <p:spPr>
          <a:xfrm>
            <a:off x="2514600" y="50292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Prosečno odstupanje (%)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297680" y="5029200"/>
            <a:ext cx="1737360" cy="960120"/>
          </a:xfrm>
          <a:prstGeom prst="roundRect">
            <a:avLst>
              <a:gd name="adj" fmla="val 7619"/>
            </a:avLst>
          </a:prstGeom>
          <a:solidFill>
            <a:srgbClr val="12294A"/>
          </a:solidFill>
          <a:ln/>
        </p:spPr>
      </p:sp>
      <p:sp>
        <p:nvSpPr>
          <p:cNvPr id="5" name="Text 9"/>
          <p:cNvSpPr/>
          <p:nvPr/>
        </p:nvSpPr>
        <p:spPr>
          <a:xfrm>
            <a:off x="4389120" y="5029200"/>
            <a:ext cx="1554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Prosečno vreme (s)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EKSPERIMENT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Eksperimentalno okruženje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783080"/>
            <a:ext cx="10881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algoritmi (Brute Force, ILP, VNS, GA) implementirani su u Python-u i testirani na istom sistemu:</a:t>
            </a:r>
            <a:endParaRPr lang="en-US" sz="14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423160"/>
          <a:ext cx="7498080" cy="3401568"/>
        </p:xfrm>
        <a:graphic>
          <a:graphicData uri="http://schemas.openxmlformats.org/drawingml/2006/table">
            <a:tbl>
              <a:tblPr/>
              <a:tblGrid>
                <a:gridCol w="31089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89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Komponenta / Parametar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Vrednost / Opis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Procesor (CPU)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Intel(R) Core(TM) i5-11400F 2.60GHz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Radna memorija (RAM)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16.0 GB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Matična ploča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ASRock B560 Steel Legend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Operativni sistem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Microsoft Windows 11 Pro (64-bit)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6692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Programski jezik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3.14.7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Mali i srednji skup grafova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MALI SKUP  ·  5 čvorova</a:t>
            </a:r>
            <a:endParaRPr lang="en-US" sz="1300" dirty="0"/>
          </a:p>
        </p:txBody>
      </p:sp>
      <p:graphicFrame>
        <p:nvGraphicFramePr>
          <p:cNvPr id="1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011680"/>
          <a:ext cx="5303519" cy="2304288"/>
        </p:xfrm>
        <a:graphic>
          <a:graphicData uri="http://schemas.openxmlformats.org/drawingml/2006/table">
            <a:tbl>
              <a:tblPr/>
              <a:tblGrid>
                <a:gridCol w="1909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Uspeh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Prosek. gap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Vreme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Programming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3.05×10⁻⁵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0.0074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0.0379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VNS (no pruning)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0.0223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0.7077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48640" y="4343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Svi algoritmi brzo pronalaze optimum — ILP i gruba sila najbrži.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6080760" y="1783080"/>
            <a:ext cx="0" cy="4572000"/>
          </a:xfrm>
          <a:prstGeom prst="line">
            <a:avLst/>
          </a:prstGeom>
          <a:noFill/>
          <a:ln w="12700">
            <a:solidFill>
              <a:srgbClr val="E1E7E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355080" y="1691640"/>
            <a:ext cx="5303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SREDNJI SKUP  ·  25 čvorova</a:t>
            </a:r>
            <a:endParaRPr lang="en-US" sz="1300" dirty="0"/>
          </a:p>
        </p:txBody>
      </p:sp>
      <p:graphicFrame>
        <p:nvGraphicFramePr>
          <p:cNvPr id="2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355080" y="2011680"/>
          <a:ext cx="5303519" cy="2304288"/>
        </p:xfrm>
        <a:graphic>
          <a:graphicData uri="http://schemas.openxmlformats.org/drawingml/2006/table">
            <a:tbl>
              <a:tblPr/>
              <a:tblGrid>
                <a:gridCol w="19092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7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7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677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Uspeh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Prosek. gap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Vreme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Programming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0.0162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0.0122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0.1087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VNS (no pruning)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76.0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8.13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0.0448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0.9735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" name="Text 6"/>
          <p:cNvSpPr/>
          <p:nvPr/>
        </p:nvSpPr>
        <p:spPr>
          <a:xfrm>
            <a:off x="6355080" y="4343400"/>
            <a:ext cx="5303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600"/>
              </a:lnSpc>
              <a:buNone/>
            </a:pPr>
            <a:r>
              <a:rPr lang="en-US" sz="1200" b="1" i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VNS bez orezivanja </a:t>
            </a:r>
            <a:r>
              <a:rPr lang="en-US" sz="120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već ovde gubi na tačnosti (76%, gap 8.13%).</a:t>
            </a:r>
            <a:endParaRPr lang="en-US" sz="1200" dirty="0"/>
          </a:p>
        </p:txBody>
      </p:sp>
      <p:sp>
        <p:nvSpPr>
          <p:cNvPr id="11" name="Shape 7"/>
          <p:cNvSpPr/>
          <p:nvPr/>
        </p:nvSpPr>
        <p:spPr>
          <a:xfrm>
            <a:off x="548640" y="5074920"/>
            <a:ext cx="11109960" cy="1051560"/>
          </a:xfrm>
          <a:prstGeom prst="roundRect">
            <a:avLst>
              <a:gd name="adj" fmla="val 8696"/>
            </a:avLst>
          </a:prstGeom>
          <a:solidFill>
            <a:srgbClr val="12294A"/>
          </a:solidFill>
          <a:ln/>
        </p:spPr>
      </p:sp>
      <p:sp>
        <p:nvSpPr>
          <p:cNvPr id="12" name="Text 8"/>
          <p:cNvSpPr/>
          <p:nvPr/>
        </p:nvSpPr>
        <p:spPr>
          <a:xfrm>
            <a:off x="868680" y="5074920"/>
            <a:ext cx="1046988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Zapažanje:  </a:t>
            </a: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 obe veličine grafova egzaktne metode i metaheuristike sa orezivanjem postižu 100% uspešnosti — razlike u ponašanju metoda tek počinju da se vide na srednjem skupu, i eskaliraju na velikom skupu (sledeći slajd).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5" name="Text 10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Veliki skup grafova (100</a:t>
            </a:r>
            <a:r>
              <a:rPr lang="sr-Latn-R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+</a:t>
            </a: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 čvorova)</a:t>
            </a:r>
            <a:endParaRPr lang="en-US" sz="32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03864724"/>
              </p:ext>
            </p:extLst>
          </p:nvPr>
        </p:nvGraphicFramePr>
        <p:xfrm>
          <a:off x="548640" y="1783080"/>
          <a:ext cx="5394961" cy="2304288"/>
        </p:xfrm>
        <a:graphic>
          <a:graphicData uri="http://schemas.openxmlformats.org/drawingml/2006/table">
            <a:tbl>
              <a:tblPr/>
              <a:tblGrid>
                <a:gridCol w="194218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294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29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86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Uspeh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Prosek. gap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Vreme (s)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Linear Programming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0.1352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 Force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/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~40 mlrd. god.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44.0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12.1996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VNS (no pruning)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27.65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2.3464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100" b="1" dirty="0">
                          <a:solidFill>
                            <a:srgbClr val="1229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Algorithm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12.0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17.4640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4160520"/>
            <a:ext cx="5394960" cy="1737360"/>
          </a:xfrm>
          <a:prstGeom prst="roundRect">
            <a:avLst>
              <a:gd name="adj" fmla="val 5263"/>
            </a:avLst>
          </a:prstGeom>
          <a:solidFill>
            <a:srgbClr val="12294A"/>
          </a:solidFill>
          <a:ln/>
        </p:spPr>
      </p:sp>
      <p:sp>
        <p:nvSpPr>
          <p:cNvPr id="6" name="Text 3"/>
          <p:cNvSpPr/>
          <p:nvPr/>
        </p:nvSpPr>
        <p:spPr>
          <a:xfrm>
            <a:off x="822960" y="4160520"/>
            <a:ext cx="484632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b="1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Gruba sila postaje neizvodljiva: </a:t>
            </a: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broj operacija dostiže 2¹⁰⁰ ≈ 1.267 × 10³⁰. Ostale metode gube na tačnosti, ali ostaju blizu optimuma dok im vreme izvršavanja značajno raste.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F223F785-2329-5030-3ADE-C2EB66CB49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5393" y="2073810"/>
            <a:ext cx="5454100" cy="3250423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REZULTATI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Skalabilnost: graf sa 1000 čvorova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48640" y="141732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i="1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Prosečna gustina 200 — domen u kome su egzaktne metode potpuno neprimenjive.</a:t>
            </a:r>
            <a:endParaRPr lang="en-US" sz="135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965960"/>
          <a:ext cx="6400800" cy="3328416"/>
        </p:xfrm>
        <a:graphic>
          <a:graphicData uri="http://schemas.openxmlformats.org/drawingml/2006/table">
            <a:tbl>
              <a:tblPr/>
              <a:tblGrid>
                <a:gridCol w="268833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4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0817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Algoritam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Iteracije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|S|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Vreme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94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608.59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140.53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VNS (no pruning)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42.81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VNS (no pruning)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533.46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592.31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5488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300" b="1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Genetic Algorithm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b="1" dirty="0">
                          <a:solidFill>
                            <a:srgbClr val="B8720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300" dirty="0">
                          <a:solidFill>
                            <a:srgbClr val="1B273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214.26 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1E7E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7223760" y="1965960"/>
            <a:ext cx="4206240" cy="3931920"/>
          </a:xfrm>
          <a:prstGeom prst="roundRect">
            <a:avLst>
              <a:gd name="adj" fmla="val 2326"/>
            </a:avLst>
          </a:prstGeom>
          <a:solidFill>
            <a:srgbClr val="EAF1F7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0" y="21945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KLJUČNO ZAPAŽANJE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498080" y="25603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1229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VNS sa orezivanjem i GA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već pri 200 iteracija konvergiraju ka rešenju veličine |S| = 16 — dalje iteracije (1000) ne donose poboljšanje.
</a:t>
            </a:r>
            <a:r>
              <a:rPr lang="en-US" sz="1300" b="1" dirty="0">
                <a:solidFill>
                  <a:srgbClr val="B872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VNS bez orezivanja </a:t>
            </a:r>
            <a:r>
              <a:rPr lang="en-US" sz="13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ostaje zaglavljen u lošijim lokalnim optimumima (|S| = 18–19) čak i uz 10 000 iteracija.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F2A54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Šta pokazuju rezultati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0B1D33"/>
          </a:solidFill>
          <a:ln w="12700">
            <a:solidFill>
              <a:srgbClr val="26456C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22960" y="2240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541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822960" y="29260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Egzaktne metode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Gruba sila eksponencijalno raste i postaje neprimenjiva. ILP je izuzetno brz i tačan, ali gubi primenjivost preko ~210 čvorova zbog kombinatorne eksplozije.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20624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0B1D33"/>
          </a:solidFill>
          <a:ln w="12700">
            <a:solidFill>
              <a:srgbClr val="26456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480560" y="2240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541"/>
          </a:solidFill>
          <a:ln/>
        </p:spPr>
      </p:sp>
      <p:sp>
        <p:nvSpPr>
          <p:cNvPr id="11" name="Text 9"/>
          <p:cNvSpPr/>
          <p:nvPr/>
        </p:nvSpPr>
        <p:spPr>
          <a:xfrm>
            <a:off x="44805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480560" y="29260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Metaheuristike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480560" y="35204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Pokazuju pravu snagu na velikim instancama: linearan rast vremena bez kombinatorne eksplozije, uz rešenja bliska optimalnim.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7863840" y="1920240"/>
            <a:ext cx="3429000" cy="3566160"/>
          </a:xfrm>
          <a:prstGeom prst="roundRect">
            <a:avLst>
              <a:gd name="adj" fmla="val 2667"/>
            </a:avLst>
          </a:prstGeom>
          <a:solidFill>
            <a:srgbClr val="0B1D33"/>
          </a:solidFill>
          <a:ln w="12700">
            <a:solidFill>
              <a:srgbClr val="26456C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138160" y="2240280"/>
            <a:ext cx="502920" cy="502920"/>
          </a:xfrm>
          <a:prstGeom prst="roundRect">
            <a:avLst>
              <a:gd name="adj" fmla="val 50909"/>
            </a:avLst>
          </a:prstGeom>
          <a:solidFill>
            <a:srgbClr val="F2A541"/>
          </a:solidFill>
          <a:ln/>
        </p:spPr>
      </p:sp>
      <p:sp>
        <p:nvSpPr>
          <p:cNvPr id="16" name="Text 14"/>
          <p:cNvSpPr/>
          <p:nvPr/>
        </p:nvSpPr>
        <p:spPr>
          <a:xfrm>
            <a:off x="8138160" y="2240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000" dirty="0"/>
          </a:p>
        </p:txBody>
      </p:sp>
      <p:sp>
        <p:nvSpPr>
          <p:cNvPr id="17" name="Text 15"/>
          <p:cNvSpPr/>
          <p:nvPr/>
        </p:nvSpPr>
        <p:spPr>
          <a:xfrm>
            <a:off x="8138160" y="2926080"/>
            <a:ext cx="2880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Uloga pruning-a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138160" y="3520440"/>
            <a:ext cx="288036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800"/>
              </a:lnSpc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VNS sa orezivanjem ubedljivo nadmašuje VNS bez njega — stabilan, skroman rast vremena omogućava primenu i na grafovima masivnih dimenzija.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548640" y="5669280"/>
            <a:ext cx="108813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1900"/>
              </a:lnSpc>
              <a:buNone/>
            </a:pPr>
            <a:r>
              <a:rPr lang="en-US" sz="135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Zaključak: metaheurističke metode (posebno VNS + pruning) predstavljaju najbolji kompromis između kvaliteta rešenja i skalabilnosti na velikim grafovima.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FA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b="1" kern="0" spc="200" dirty="0">
                <a:solidFill>
                  <a:srgbClr val="1C72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DALJI RAD</a:t>
            </a:r>
            <a:endParaRPr lang="en-US" sz="125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7899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Mogućnosti za dalji rad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48640" y="192024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6" name="Text 4"/>
          <p:cNvSpPr/>
          <p:nvPr/>
        </p:nvSpPr>
        <p:spPr>
          <a:xfrm>
            <a:off x="189738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⚙️</a:t>
            </a:r>
            <a:endParaRPr lang="en-US" sz="2240" dirty="0"/>
          </a:p>
        </p:txBody>
      </p:sp>
      <p:sp>
        <p:nvSpPr>
          <p:cNvPr id="7" name="Text 5"/>
          <p:cNvSpPr/>
          <p:nvPr/>
        </p:nvSpPr>
        <p:spPr>
          <a:xfrm>
            <a:off x="731520" y="3154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Podešavanje parametara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777240" y="38862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za hiperparametre (populacija, stope ukrštanja/mutacije kod GA, max veličina okoline kod VNS); poređenje fitness/kaznenih funkcija.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206240" y="192024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555498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1" name="Text 9"/>
          <p:cNvSpPr/>
          <p:nvPr/>
        </p:nvSpPr>
        <p:spPr>
          <a:xfrm>
            <a:off x="555498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🕸️</a:t>
            </a:r>
            <a:endParaRPr lang="en-US" sz="2240" dirty="0"/>
          </a:p>
        </p:txBody>
      </p:sp>
      <p:sp>
        <p:nvSpPr>
          <p:cNvPr id="12" name="Text 10"/>
          <p:cNvSpPr/>
          <p:nvPr/>
        </p:nvSpPr>
        <p:spPr>
          <a:xfrm>
            <a:off x="4389120" y="3154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Napredne varijante grafova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4434840" y="38862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Težinski grafovi, usmereni grafovi (digraphs) i Minimum Weight Dominating Set — minimizacija ukupne cene umesto kardinalnosti.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7863840" y="1920240"/>
            <a:ext cx="3429000" cy="36576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1E7EF"/>
            </a:solidFill>
            <a:prstDash val="solid"/>
          </a:ln>
          <a:effectLst>
            <a:outerShdw blurRad="76200" dist="25400" dir="5400000" algn="bl" rotWithShape="0">
              <a:srgbClr val="9AA7B5">
                <a:alpha val="2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212580" y="2240280"/>
            <a:ext cx="731520" cy="731520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9212580" y="224028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4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2240" dirty="0"/>
          </a:p>
        </p:txBody>
      </p:sp>
      <p:sp>
        <p:nvSpPr>
          <p:cNvPr id="17" name="Text 15"/>
          <p:cNvSpPr/>
          <p:nvPr/>
        </p:nvSpPr>
        <p:spPr>
          <a:xfrm>
            <a:off x="8046720" y="3154680"/>
            <a:ext cx="30632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800"/>
              </a:lnSpc>
              <a:buNone/>
            </a:pPr>
            <a:r>
              <a:rPr lang="en-US" sz="1500" b="1" dirty="0">
                <a:solidFill>
                  <a:srgbClr val="1229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Hibridizacija i paralelizacija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092440" y="3886200"/>
            <a:ext cx="29718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lnSpc>
                <a:spcPts val="1600"/>
              </a:lnSpc>
              <a:buNone/>
            </a:pPr>
            <a:r>
              <a:rPr lang="en-US" sz="12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Spajanje VNS-a i genetskog algoritma u jedinstven hibridni pristup radi bržeg i tačnijeg rešavanja.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6473952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 Dominating Set Problem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1521440" y="6473952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5B6B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2294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657600"/>
            <a:ext cx="5943600" cy="5943600"/>
          </a:xfrm>
          <a:prstGeom prst="ellipse">
            <a:avLst/>
          </a:prstGeom>
          <a:solidFill>
            <a:srgbClr val="0B1D33"/>
          </a:solidFill>
          <a:ln/>
        </p:spPr>
      </p:sp>
      <p:sp>
        <p:nvSpPr>
          <p:cNvPr id="3" name="Shape 1"/>
          <p:cNvSpPr/>
          <p:nvPr/>
        </p:nvSpPr>
        <p:spPr>
          <a:xfrm>
            <a:off x="9601200" y="-2286000"/>
            <a:ext cx="5486400" cy="5486400"/>
          </a:xfrm>
          <a:prstGeom prst="ellipse">
            <a:avLst/>
          </a:prstGeom>
          <a:solidFill>
            <a:srgbClr val="1C7293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822960" y="2651760"/>
            <a:ext cx="100584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Hvala na pažnji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822960" y="35661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Pitanja su dobrodošla.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4206240"/>
            <a:ext cx="2926080" cy="0"/>
          </a:xfrm>
          <a:prstGeom prst="line">
            <a:avLst/>
          </a:prstGeom>
          <a:noFill/>
          <a:ln w="25400">
            <a:solidFill>
              <a:srgbClr val="1C729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4389120"/>
            <a:ext cx="7315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ts val="2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Viktor Šević</a:t>
            </a: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Mentor: Stefan Kapunac
Računarska inteligencija  ·  Avgust 2026.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1704</Words>
  <Application>Microsoft Office PowerPoint</Application>
  <PresentationFormat>Widescreen</PresentationFormat>
  <Paragraphs>340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Arial</vt:lpstr>
      <vt:lpstr>Calibri</vt:lpstr>
      <vt:lpstr>Cambria</vt:lpstr>
      <vt:lpstr>Cambria Math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Viktor Šević</cp:lastModifiedBy>
  <cp:revision>2</cp:revision>
  <dcterms:created xsi:type="dcterms:W3CDTF">2026-08-26T19:00:12Z</dcterms:created>
  <dcterms:modified xsi:type="dcterms:W3CDTF">2026-08-26T19:38:56Z</dcterms:modified>
</cp:coreProperties>
</file>